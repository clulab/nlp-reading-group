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1092" r:id="rId3"/>
    <p:sldId id="1083" r:id="rId4"/>
    <p:sldId id="1084" r:id="rId5"/>
    <p:sldId id="1085" r:id="rId6"/>
    <p:sldId id="1086" r:id="rId7"/>
    <p:sldId id="1087" r:id="rId8"/>
    <p:sldId id="1088" r:id="rId9"/>
    <p:sldId id="1089" r:id="rId10"/>
    <p:sldId id="1090" r:id="rId11"/>
    <p:sldId id="109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00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38" autoAdjust="0"/>
    <p:restoredTop sz="94150" autoAdjust="0"/>
  </p:normalViewPr>
  <p:slideViewPr>
    <p:cSldViewPr snapToGrid="0" snapToObjects="1">
      <p:cViewPr varScale="1">
        <p:scale>
          <a:sx n="120" d="100"/>
          <a:sy n="120" d="100"/>
        </p:scale>
        <p:origin x="216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-308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994EC-483D-324E-A14B-FCB2363A6145}" type="datetimeFigureOut">
              <a:rPr lang="en-US" smtClean="0"/>
              <a:t>2/13/23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5025C-7BC1-FD44-A669-36723E548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154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AC850-72E3-3F4D-B35F-F73F8A3CE0A9}" type="datetimeFigureOut">
              <a:rPr lang="en-US" smtClean="0"/>
              <a:t>2/13/23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34428D-4341-6C4B-9BB6-4FE91131A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579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34428D-4341-6C4B-9BB6-4FE91131A2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03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9670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3544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FF8D0-70A2-2644-AB9A-71B243683867}" type="datetime1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85800" y="3208935"/>
            <a:ext cx="7772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23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8730-4C36-8843-9EA4-9C3064893DBD}" type="datetime1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94720"/>
            <a:ext cx="8229600" cy="8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434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7688-05DA-4D47-AA55-61A105CE9D81}" type="datetime1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0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D28-8309-FE49-AB2C-BE2DC70C9A1C}" type="datetime1">
              <a:rPr lang="en-US" smtClean="0"/>
              <a:t>2/13/23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94720"/>
            <a:ext cx="8229600" cy="8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3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5934-7B0D-E641-970A-4611A6D96867}" type="datetime1">
              <a:rPr lang="en-US" smtClean="0"/>
              <a:t>2/13/23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1494720"/>
            <a:ext cx="8229600" cy="8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14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18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54B22-D73B-5641-AE5B-A44D888704A2}" type="datetime1">
              <a:rPr lang="en-US" smtClean="0"/>
              <a:t>2/13/23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304220"/>
            <a:ext cx="8229600" cy="8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364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56C4A-8140-4243-9F4B-6A0F328069B3}" type="datetime1">
              <a:rPr lang="en-US" smtClean="0"/>
              <a:t>2/13/23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44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471A-7A79-1F42-B8F4-4C366A4D2860}" type="datetime1">
              <a:rPr lang="en-US" smtClean="0"/>
              <a:t>2/13/23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C599A-C565-AA4F-B0B7-B1C9F3E19B32}" type="datetime1">
              <a:rPr lang="en-US" smtClean="0"/>
              <a:t>2/13/23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23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ADB3E-F530-B04E-9C00-73A665A746DF}" type="datetime1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494720"/>
            <a:ext cx="8229600" cy="8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299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A8647-DDC8-8045-929B-87F8A0123AAC}" type="datetime1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99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556791" y="6333134"/>
            <a:ext cx="548699" cy="5246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6391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Wid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3F7C509-FEEF-45D3-B896-7C07814C0C13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5125" y="609601"/>
            <a:ext cx="8329613" cy="697577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headline here – up to 2 full width lines</a:t>
            </a:r>
          </a:p>
        </p:txBody>
      </p:sp>
    </p:spTree>
    <p:extLst>
      <p:ext uri="{BB962C8B-B14F-4D97-AF65-F5344CB8AC3E}">
        <p14:creationId xmlns:p14="http://schemas.microsoft.com/office/powerpoint/2010/main" val="124835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93804-F157-E84E-A058-6F1D58E71D89}" type="datetime1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6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2197" y="1628665"/>
            <a:ext cx="8544329" cy="1470025"/>
          </a:xfrm>
        </p:spPr>
        <p:txBody>
          <a:bodyPr>
            <a:normAutofit/>
          </a:bodyPr>
          <a:lstStyle/>
          <a:p>
            <a:r>
              <a:rPr lang="en-US" b="1" dirty="0"/>
              <a:t>On Machine Reasoning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85800" y="3462875"/>
            <a:ext cx="7772400" cy="11556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Mihai Surdeanu</a:t>
            </a:r>
          </a:p>
          <a:p>
            <a:r>
              <a:rPr lang="en-US" sz="2600" dirty="0"/>
              <a:t>February 2023</a:t>
            </a:r>
          </a:p>
          <a:p>
            <a:endParaRPr lang="en-US" sz="2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 descr="download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388" y="5221964"/>
            <a:ext cx="3438142" cy="857621"/>
          </a:xfrm>
          <a:prstGeom prst="rect">
            <a:avLst/>
          </a:prstGeom>
        </p:spPr>
      </p:pic>
      <p:pic>
        <p:nvPicPr>
          <p:cNvPr id="8" name="Picture 7" descr="clulab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275" y="4836534"/>
            <a:ext cx="1487859" cy="185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03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2F427AE-B774-214E-9B6F-52482A61B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Mihai’s poor consciousness taxonomy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F154F2-24A8-5A4F-9179-0AD4CC43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D82540-8381-604C-86D6-589DDF1FE65B}"/>
              </a:ext>
            </a:extLst>
          </p:cNvPr>
          <p:cNvSpPr txBox="1"/>
          <p:nvPr/>
        </p:nvSpPr>
        <p:spPr>
          <a:xfrm>
            <a:off x="2243358" y="1648496"/>
            <a:ext cx="16653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consciousness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CEADD9-D56B-9549-BCC4-EA1A2F34B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308" y="1624504"/>
            <a:ext cx="1350532" cy="20348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353A0618-4D8F-9C4A-8899-D9B1AC98F27C}"/>
              </a:ext>
            </a:extLst>
          </p:cNvPr>
          <p:cNvGrpSpPr/>
          <p:nvPr/>
        </p:nvGrpSpPr>
        <p:grpSpPr>
          <a:xfrm>
            <a:off x="1095162" y="2048606"/>
            <a:ext cx="3875705" cy="2028765"/>
            <a:chOff x="1095162" y="2048606"/>
            <a:chExt cx="3875705" cy="20287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2547783-B078-3840-A418-8FF030442577}"/>
                </a:ext>
              </a:extLst>
            </p:cNvPr>
            <p:cNvSpPr txBox="1"/>
            <p:nvPr/>
          </p:nvSpPr>
          <p:spPr>
            <a:xfrm>
              <a:off x="1095162" y="2753932"/>
              <a:ext cx="1677831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phenomenal</a:t>
              </a:r>
            </a:p>
            <a:p>
              <a:pPr algn="ctr"/>
              <a:r>
                <a:rPr lang="en-US" sz="2000" dirty="0"/>
                <a:t>(how you feel)</a:t>
              </a:r>
            </a:p>
            <a:p>
              <a:pPr algn="ctr"/>
              <a:r>
                <a:rPr lang="en-US" sz="2000" dirty="0"/>
                <a:t>first person</a:t>
              </a:r>
            </a:p>
            <a:p>
              <a:pPr algn="ctr"/>
              <a:r>
                <a:rPr lang="en-US" sz="2000" dirty="0"/>
                <a:t>hard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83CB3C7-AD5F-C448-97C7-644CD1E0674E}"/>
                </a:ext>
              </a:extLst>
            </p:cNvPr>
            <p:cNvSpPr txBox="1"/>
            <p:nvPr/>
          </p:nvSpPr>
          <p:spPr>
            <a:xfrm>
              <a:off x="3361965" y="2753932"/>
              <a:ext cx="160890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psychological</a:t>
              </a:r>
            </a:p>
            <a:p>
              <a:pPr algn="ctr"/>
              <a:r>
                <a:rPr lang="en-US" sz="2000" dirty="0"/>
                <a:t>(how you act)</a:t>
              </a:r>
            </a:p>
            <a:p>
              <a:pPr algn="ctr"/>
              <a:r>
                <a:rPr lang="en-US" sz="2000" dirty="0"/>
                <a:t>third person</a:t>
              </a:r>
            </a:p>
            <a:p>
              <a:pPr algn="ctr"/>
              <a:r>
                <a:rPr lang="en-US" sz="2000" dirty="0"/>
                <a:t>easy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C5499CB-2CE3-0B46-9ADA-78F669204425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 flipH="1">
              <a:off x="1934078" y="2048606"/>
              <a:ext cx="1141944" cy="7053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92BA7E0-8FA3-E543-813A-CE1510D6FDBF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>
              <a:off x="3076022" y="2048606"/>
              <a:ext cx="1090394" cy="7053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B019E1A-56CE-AC43-892D-B68521E69E15}"/>
              </a:ext>
            </a:extLst>
          </p:cNvPr>
          <p:cNvGrpSpPr/>
          <p:nvPr/>
        </p:nvGrpSpPr>
        <p:grpSpPr>
          <a:xfrm>
            <a:off x="1779651" y="4077371"/>
            <a:ext cx="4678698" cy="1862726"/>
            <a:chOff x="1779651" y="4077371"/>
            <a:chExt cx="4678698" cy="186272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379A5DF-1F32-CF43-ABD9-E8E3BB3E2E60}"/>
                </a:ext>
              </a:extLst>
            </p:cNvPr>
            <p:cNvSpPr txBox="1"/>
            <p:nvPr/>
          </p:nvSpPr>
          <p:spPr>
            <a:xfrm>
              <a:off x="1779651" y="4924434"/>
              <a:ext cx="219681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system 1</a:t>
              </a:r>
            </a:p>
            <a:p>
              <a:pPr algn="ctr"/>
              <a:r>
                <a:rPr lang="en-US" sz="2000" dirty="0"/>
                <a:t>(automated action)</a:t>
              </a:r>
            </a:p>
            <a:p>
              <a:pPr algn="ctr"/>
              <a:r>
                <a:rPr lang="en-US" sz="2000" dirty="0"/>
                <a:t>easier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744135B-19C5-BB49-A3B4-7240A17AF3FB}"/>
                </a:ext>
              </a:extLst>
            </p:cNvPr>
            <p:cNvCxnSpPr>
              <a:cxnSpLocks/>
              <a:stCxn id="8" idx="2"/>
              <a:endCxn id="16" idx="0"/>
            </p:cNvCxnSpPr>
            <p:nvPr/>
          </p:nvCxnSpPr>
          <p:spPr>
            <a:xfrm flipH="1">
              <a:off x="2878061" y="4077371"/>
              <a:ext cx="1288355" cy="84706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20D132C-5E2A-0147-AC02-47D65EEFC2AB}"/>
                </a:ext>
              </a:extLst>
            </p:cNvPr>
            <p:cNvSpPr txBox="1"/>
            <p:nvPr/>
          </p:nvSpPr>
          <p:spPr>
            <a:xfrm>
              <a:off x="4572000" y="4916917"/>
              <a:ext cx="18863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system 2</a:t>
              </a:r>
            </a:p>
            <a:p>
              <a:pPr algn="ctr"/>
              <a:r>
                <a:rPr lang="en-US" sz="2000" dirty="0"/>
                <a:t>(mental activity)</a:t>
              </a:r>
            </a:p>
            <a:p>
              <a:pPr algn="ctr"/>
              <a:r>
                <a:rPr lang="en-US" sz="2000" dirty="0"/>
                <a:t>harder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5720280-C7A7-F24A-BDFE-B12A84249B2A}"/>
                </a:ext>
              </a:extLst>
            </p:cNvPr>
            <p:cNvCxnSpPr>
              <a:cxnSpLocks/>
              <a:stCxn id="8" idx="2"/>
              <a:endCxn id="20" idx="0"/>
            </p:cNvCxnSpPr>
            <p:nvPr/>
          </p:nvCxnSpPr>
          <p:spPr>
            <a:xfrm>
              <a:off x="4166416" y="4077371"/>
              <a:ext cx="1348759" cy="8395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1B59C184-A139-844D-91EC-76855E330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628" y="4077370"/>
            <a:ext cx="1713892" cy="1713892"/>
          </a:xfrm>
          <a:prstGeom prst="rect">
            <a:avLst/>
          </a:prstGeom>
        </p:spPr>
      </p:pic>
      <p:sp>
        <p:nvSpPr>
          <p:cNvPr id="31" name="Freeform 30">
            <a:extLst>
              <a:ext uri="{FF2B5EF4-FFF2-40B4-BE49-F238E27FC236}">
                <a16:creationId xmlns:a16="http://schemas.microsoft.com/office/drawing/2014/main" id="{ECA77024-2B57-1745-8AC4-3E627EFD7D8D}"/>
              </a:ext>
            </a:extLst>
          </p:cNvPr>
          <p:cNvSpPr/>
          <p:nvPr/>
        </p:nvSpPr>
        <p:spPr>
          <a:xfrm>
            <a:off x="1517676" y="4385256"/>
            <a:ext cx="5118651" cy="1755208"/>
          </a:xfrm>
          <a:custGeom>
            <a:avLst/>
            <a:gdLst>
              <a:gd name="connsiteX0" fmla="*/ 3865693 w 5118651"/>
              <a:gd name="connsiteY0" fmla="*/ 128789 h 1755208"/>
              <a:gd name="connsiteX1" fmla="*/ 1457344 w 5118651"/>
              <a:gd name="connsiteY1" fmla="*/ 302654 h 1755208"/>
              <a:gd name="connsiteX2" fmla="*/ 2031 w 5118651"/>
              <a:gd name="connsiteY2" fmla="*/ 1010992 h 1755208"/>
              <a:gd name="connsiteX3" fmla="*/ 1753558 w 5118651"/>
              <a:gd name="connsiteY3" fmla="*/ 1725769 h 1755208"/>
              <a:gd name="connsiteX4" fmla="*/ 4747896 w 5118651"/>
              <a:gd name="connsiteY4" fmla="*/ 1493950 h 1755208"/>
              <a:gd name="connsiteX5" fmla="*/ 4960397 w 5118651"/>
              <a:gd name="connsiteY5" fmla="*/ 373488 h 1755208"/>
              <a:gd name="connsiteX6" fmla="*/ 3730465 w 5118651"/>
              <a:gd name="connsiteY6" fmla="*/ 0 h 175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18651" h="1755208">
                <a:moveTo>
                  <a:pt x="3865693" y="128789"/>
                </a:moveTo>
                <a:cubicBezTo>
                  <a:pt x="2983490" y="142204"/>
                  <a:pt x="2101288" y="155620"/>
                  <a:pt x="1457344" y="302654"/>
                </a:cubicBezTo>
                <a:cubicBezTo>
                  <a:pt x="813400" y="449688"/>
                  <a:pt x="-47338" y="773806"/>
                  <a:pt x="2031" y="1010992"/>
                </a:cubicBezTo>
                <a:cubicBezTo>
                  <a:pt x="51400" y="1248178"/>
                  <a:pt x="962580" y="1645276"/>
                  <a:pt x="1753558" y="1725769"/>
                </a:cubicBezTo>
                <a:cubicBezTo>
                  <a:pt x="2544535" y="1806262"/>
                  <a:pt x="4213423" y="1719330"/>
                  <a:pt x="4747896" y="1493950"/>
                </a:cubicBezTo>
                <a:cubicBezTo>
                  <a:pt x="5282369" y="1268570"/>
                  <a:pt x="5129969" y="622480"/>
                  <a:pt x="4960397" y="373488"/>
                </a:cubicBezTo>
                <a:cubicBezTo>
                  <a:pt x="4790825" y="124496"/>
                  <a:pt x="4260645" y="62248"/>
                  <a:pt x="3730465" y="0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5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A019D-BCC4-FB48-8BA2-B0F34D8F8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Organization of my talk: </a:t>
            </a:r>
            <a:br>
              <a:rPr lang="en-US" sz="3200" dirty="0"/>
            </a:br>
            <a:r>
              <a:rPr lang="en-US" sz="3200" dirty="0"/>
              <a:t>Reasoning as two systems (Kahneman 2011)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6D1A9-768C-AD44-B417-E7B06A867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A121F5-07C9-FF4D-B57F-2C3BEA761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240" y="1808480"/>
            <a:ext cx="4257040" cy="425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7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36191-8ED8-D147-AC6A-322AFD267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C07377-6D0C-B84A-B890-2A22E34BF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40A1C-D869-BB40-A487-EAE721984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906270"/>
            <a:ext cx="3429000" cy="2374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D7D6EE-1A0C-9D48-BBF2-D826E3CBA687}"/>
              </a:ext>
            </a:extLst>
          </p:cNvPr>
          <p:cNvSpPr txBox="1"/>
          <p:nvPr/>
        </p:nvSpPr>
        <p:spPr>
          <a:xfrm>
            <a:off x="3062420" y="4796274"/>
            <a:ext cx="3019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The man is angry</a:t>
            </a:r>
          </a:p>
        </p:txBody>
      </p:sp>
    </p:spTree>
    <p:extLst>
      <p:ext uri="{BB962C8B-B14F-4D97-AF65-F5344CB8AC3E}">
        <p14:creationId xmlns:p14="http://schemas.microsoft.com/office/powerpoint/2010/main" val="244103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87AEC-32D8-8945-92FE-B0E21026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C596A6-1E4F-E34F-8674-2476F8BC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F5AC6-C41A-A443-86B2-6468C987C953}"/>
              </a:ext>
            </a:extLst>
          </p:cNvPr>
          <p:cNvSpPr txBox="1"/>
          <p:nvPr/>
        </p:nvSpPr>
        <p:spPr>
          <a:xfrm>
            <a:off x="3184600" y="2889955"/>
            <a:ext cx="27747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Bread and …</a:t>
            </a:r>
          </a:p>
        </p:txBody>
      </p:sp>
    </p:spTree>
    <p:extLst>
      <p:ext uri="{BB962C8B-B14F-4D97-AF65-F5344CB8AC3E}">
        <p14:creationId xmlns:p14="http://schemas.microsoft.com/office/powerpoint/2010/main" val="2664955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87AEC-32D8-8945-92FE-B0E21026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C596A6-1E4F-E34F-8674-2476F8BC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F5AC6-C41A-A443-86B2-6468C987C953}"/>
              </a:ext>
            </a:extLst>
          </p:cNvPr>
          <p:cNvSpPr txBox="1"/>
          <p:nvPr/>
        </p:nvSpPr>
        <p:spPr>
          <a:xfrm>
            <a:off x="3184600" y="2889955"/>
            <a:ext cx="37238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Bread and butter</a:t>
            </a:r>
          </a:p>
        </p:txBody>
      </p:sp>
    </p:spTree>
    <p:extLst>
      <p:ext uri="{BB962C8B-B14F-4D97-AF65-F5344CB8AC3E}">
        <p14:creationId xmlns:p14="http://schemas.microsoft.com/office/powerpoint/2010/main" val="3123019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EBAA5-A0FF-644D-A27A-655FF4A44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A75DB-4C75-0445-A213-4FE95470E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Kahneman: “System 1 operates automatically and quickly, with little or no effort and no sense of voluntary control.”</a:t>
            </a:r>
          </a:p>
          <a:p>
            <a:r>
              <a:rPr lang="en-US" dirty="0"/>
              <a:t>Neural networks perform well at System 1 tasks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E7838E-D004-8A49-9487-600360B4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77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6F51E-FFED-974D-869A-F6FD8531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5344B-6850-1E41-BAFC-BB6194D7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CB586-82F7-A241-B576-1568A2E5B60F}"/>
              </a:ext>
            </a:extLst>
          </p:cNvPr>
          <p:cNvSpPr txBox="1"/>
          <p:nvPr/>
        </p:nvSpPr>
        <p:spPr>
          <a:xfrm>
            <a:off x="3311078" y="1761068"/>
            <a:ext cx="229261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/>
              <a:t>    173</a:t>
            </a:r>
          </a:p>
          <a:p>
            <a:r>
              <a:rPr lang="en-US" sz="6600" dirty="0"/>
              <a:t>x  327</a:t>
            </a:r>
          </a:p>
          <a:p>
            <a:r>
              <a:rPr lang="en-US" sz="6600" dirty="0"/>
              <a:t>_____</a:t>
            </a:r>
          </a:p>
        </p:txBody>
      </p:sp>
    </p:spTree>
    <p:extLst>
      <p:ext uri="{BB962C8B-B14F-4D97-AF65-F5344CB8AC3E}">
        <p14:creationId xmlns:p14="http://schemas.microsoft.com/office/powerpoint/2010/main" val="148728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6F51E-FFED-974D-869A-F6FD8531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5344B-6850-1E41-BAFC-BB6194D7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CB586-82F7-A241-B576-1568A2E5B60F}"/>
              </a:ext>
            </a:extLst>
          </p:cNvPr>
          <p:cNvSpPr txBox="1"/>
          <p:nvPr/>
        </p:nvSpPr>
        <p:spPr>
          <a:xfrm>
            <a:off x="3311078" y="1761068"/>
            <a:ext cx="254428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/>
              <a:t>    173</a:t>
            </a:r>
          </a:p>
          <a:p>
            <a:r>
              <a:rPr lang="en-US" sz="6600" dirty="0"/>
              <a:t>x  327</a:t>
            </a:r>
          </a:p>
          <a:p>
            <a:r>
              <a:rPr lang="en-US" sz="6600" dirty="0"/>
              <a:t>_____</a:t>
            </a:r>
          </a:p>
          <a:p>
            <a:r>
              <a:rPr lang="en-US" sz="6600" dirty="0"/>
              <a:t>56,571</a:t>
            </a:r>
          </a:p>
        </p:txBody>
      </p:sp>
    </p:spTree>
    <p:extLst>
      <p:ext uri="{BB962C8B-B14F-4D97-AF65-F5344CB8AC3E}">
        <p14:creationId xmlns:p14="http://schemas.microsoft.com/office/powerpoint/2010/main" val="2165422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DD48-916C-C44C-82D5-63AF55484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2 == reasoning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178F1-8681-6F4E-9D26-654627E50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Kahneman: “System 2 allocates attention to the effortful mental activities that demand it, including complex computations.”</a:t>
            </a:r>
          </a:p>
          <a:p>
            <a:r>
              <a:rPr lang="en-US" dirty="0"/>
              <a:t>Manning: “Understanding bigger things from knowing smaller parts.”</a:t>
            </a:r>
          </a:p>
          <a:p>
            <a:r>
              <a:rPr lang="en-US" dirty="0"/>
              <a:t>(Vanilla) neural networks do not perform well at System 2 tasks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0C3F7B-A87F-364A-B31C-0B0168E76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84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442A-BEDF-FF3F-ECE7-53AD6EB04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B360A-0655-7EDE-6932-61A266664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 (be it first-order logic or natural logic)</a:t>
            </a:r>
          </a:p>
          <a:p>
            <a:r>
              <a:rPr lang="en-US" dirty="0"/>
              <a:t>Graph-based algorithms</a:t>
            </a:r>
          </a:p>
          <a:p>
            <a:r>
              <a:rPr lang="en-US" dirty="0"/>
              <a:t>Reinforcement learning</a:t>
            </a:r>
          </a:p>
          <a:p>
            <a:r>
              <a:rPr lang="en-US" b="1" dirty="0">
                <a:solidFill>
                  <a:srgbClr val="FF0000"/>
                </a:solidFill>
              </a:rPr>
              <a:t>Sequence-to-sequence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EE3B7-5D66-BD83-E5B2-0F459CD34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97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24816</TotalTime>
  <Words>199</Words>
  <Application>Microsoft Macintosh PowerPoint</Application>
  <PresentationFormat>On-screen Show (4:3)</PresentationFormat>
  <Paragraphs>60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On Machine Reasoning</vt:lpstr>
      <vt:lpstr>Mihai’s poor consciousness taxonomy</vt:lpstr>
      <vt:lpstr>Organization of my talk:  Reasoning as two systems (Kahneman 2011)</vt:lpstr>
      <vt:lpstr>System 1</vt:lpstr>
      <vt:lpstr>System 1</vt:lpstr>
      <vt:lpstr>System 1</vt:lpstr>
      <vt:lpstr>System 1</vt:lpstr>
      <vt:lpstr>System 2</vt:lpstr>
      <vt:lpstr>System 2</vt:lpstr>
      <vt:lpstr>System 2 == reasoning</vt:lpstr>
      <vt:lpstr>Types of reasoning</vt:lpstr>
    </vt:vector>
  </TitlesOfParts>
  <Company>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Mihai Surdeanu</dc:creator>
  <cp:lastModifiedBy>Surdeanu, Mihai - (msurdeanu)</cp:lastModifiedBy>
  <cp:revision>1885</cp:revision>
  <dcterms:created xsi:type="dcterms:W3CDTF">2013-07-26T18:41:15Z</dcterms:created>
  <dcterms:modified xsi:type="dcterms:W3CDTF">2023-02-13T20:53:17Z</dcterms:modified>
</cp:coreProperties>
</file>